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2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18" Type="http://schemas.openxmlformats.org/officeDocument/2006/relationships/image" Target="../media/image27.png"/><Relationship Id="rId3" Type="http://schemas.openxmlformats.org/officeDocument/2006/relationships/image" Target="../media/image13.png"/><Relationship Id="rId21" Type="http://schemas.openxmlformats.org/officeDocument/2006/relationships/image" Target="../media/image30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17" Type="http://schemas.openxmlformats.org/officeDocument/2006/relationships/image" Target="../media/image26.png"/><Relationship Id="rId2" Type="http://schemas.openxmlformats.org/officeDocument/2006/relationships/image" Target="../media/image1.png"/><Relationship Id="rId16" Type="http://schemas.openxmlformats.org/officeDocument/2006/relationships/image" Target="../media/image25.png"/><Relationship Id="rId20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7.png"/><Relationship Id="rId15" Type="http://schemas.openxmlformats.org/officeDocument/2006/relationships/image" Target="../media/image24.png"/><Relationship Id="rId10" Type="http://schemas.openxmlformats.org/officeDocument/2006/relationships/image" Target="../media/image19.png"/><Relationship Id="rId19" Type="http://schemas.openxmlformats.org/officeDocument/2006/relationships/image" Target="../media/image28.png"/><Relationship Id="rId4" Type="http://schemas.openxmlformats.org/officeDocument/2006/relationships/image" Target="../media/image14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Relationship Id="rId22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1.png"/><Relationship Id="rId7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2.png"/><Relationship Id="rId5" Type="http://schemas.openxmlformats.org/officeDocument/2006/relationships/image" Target="../media/image33.png"/><Relationship Id="rId10" Type="http://schemas.openxmlformats.org/officeDocument/2006/relationships/image" Target="../media/image12.png"/><Relationship Id="rId4" Type="http://schemas.openxmlformats.org/officeDocument/2006/relationships/image" Target="../media/image32.png"/><Relationship Id="rId9" Type="http://schemas.openxmlformats.org/officeDocument/2006/relationships/image" Target="../media/image3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37.png"/><Relationship Id="rId7" Type="http://schemas.openxmlformats.org/officeDocument/2006/relationships/image" Target="../media/image4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7.png"/><Relationship Id="rId4" Type="http://schemas.openxmlformats.org/officeDocument/2006/relationships/image" Target="../media/image38.png"/><Relationship Id="rId9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42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2047875" y="2947987"/>
            <a:ext cx="8096250" cy="2962275"/>
          </a:xfrm>
          <a:prstGeom prst="roundRect">
            <a:avLst>
              <a:gd name="adj" fmla="val 0"/>
            </a:avLst>
          </a:prstGeom>
          <a:solidFill>
            <a:srgbClr val="F8FA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047875" y="2947987"/>
          <a:ext cx="8077199" cy="2962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6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02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3712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1E293B"/>
                          </a:solidFill>
                          <a:latin typeface="Open Sans"/>
                        </a:rPr>
                        <a:t>Problem Statement ID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Open Sans SemiBold"/>
                        </a:rPr>
                        <a:t>26034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12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1E293B"/>
                          </a:solidFill>
                          <a:latin typeface="Open Sans"/>
                        </a:rPr>
                        <a:t>Problem Statement Title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Open Sans SemiBold"/>
                        </a:rPr>
                        <a:t>Software System to check compliance of Packaged Commodities under Legal Metrology Rules, 2011 by scanning products, images and labels.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12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1E293B"/>
                          </a:solidFill>
                          <a:latin typeface="Open Sans"/>
                        </a:rPr>
                        <a:t>Theme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Open Sans SemiBold"/>
                        </a:rPr>
                        <a:t>Miscellaneous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12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1E293B"/>
                          </a:solidFill>
                          <a:latin typeface="Open Sans"/>
                        </a:rPr>
                        <a:t>PS Category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Open Sans SemiBold"/>
                        </a:rPr>
                        <a:t>Software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12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1E293B"/>
                          </a:solidFill>
                          <a:latin typeface="Open Sans"/>
                        </a:rPr>
                        <a:t>Team ID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Open Sans SemiBold"/>
                        </a:rPr>
                        <a:t>TBD-2026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3715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1E293B"/>
                          </a:solidFill>
                          <a:latin typeface="Open Sans"/>
                        </a:rPr>
                        <a:t>Team Name (Registered on portal)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E3A8A"/>
                          </a:solidFill>
                          <a:latin typeface="Open Sans ExtraBold"/>
                        </a:rPr>
                        <a:t>SYNX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057400" y="3376612"/>
            <a:ext cx="282699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874865" y="2957512"/>
            <a:ext cx="9525" cy="4286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884390" y="3376612"/>
            <a:ext cx="525020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057400" y="3995737"/>
            <a:ext cx="282699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874865" y="3386137"/>
            <a:ext cx="9525" cy="6191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884390" y="3995737"/>
            <a:ext cx="525020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057400" y="4424362"/>
            <a:ext cx="282699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874865" y="4005262"/>
            <a:ext cx="9525" cy="4286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884390" y="4424362"/>
            <a:ext cx="525020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057400" y="4852987"/>
            <a:ext cx="282699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874865" y="4433887"/>
            <a:ext cx="9525" cy="4286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884390" y="4852987"/>
            <a:ext cx="525020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057400" y="5281612"/>
            <a:ext cx="282699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874865" y="4862512"/>
            <a:ext cx="9525" cy="4286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884390" y="5281612"/>
            <a:ext cx="525020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874865" y="5291137"/>
            <a:ext cx="9525" cy="6096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03A1DD4-4B0B-D470-0899-C993966317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5850" y="778860"/>
            <a:ext cx="2693644" cy="13902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" y="18288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1517712"/>
            <a:ext cx="5524500" cy="250183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0" y="1628775"/>
            <a:ext cx="5524500" cy="2390774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4182237"/>
            <a:ext cx="5524500" cy="18573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1250" y="4145661"/>
            <a:ext cx="5524500" cy="1893951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250" y="6381750"/>
            <a:ext cx="11239500" cy="2857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6250" y="238125"/>
            <a:ext cx="70485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Montserrat ExtraBold"/>
              </a:rPr>
              <a:t>SYNX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6250" y="952500"/>
            <a:ext cx="11715750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1E3A8A"/>
                </a:solidFill>
                <a:latin typeface="Montserrat ExtraBold"/>
              </a:rPr>
              <a:t>IDEA TITLE: LEGAL METROLOGY COMPLIANCE CHECKER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6250" y="1400175"/>
            <a:ext cx="1123950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401425" y="6496050"/>
            <a:ext cx="314325" cy="150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 dirty="0" err="1">
                <a:solidFill>
                  <a:srgbClr val="64748B"/>
                </a:solidFill>
                <a:latin typeface="Open Sans SemiBold"/>
              </a:rPr>
              <a:t>SYN</a:t>
            </a:r>
            <a:r>
              <a:rPr lang="en-US" sz="975" b="0" i="0" u="none" dirty="0" err="1">
                <a:solidFill>
                  <a:srgbClr val="64748B"/>
                </a:solidFill>
                <a:latin typeface="Open Sans SemiBold"/>
              </a:rPr>
              <a:t>x</a:t>
            </a:r>
            <a:endParaRPr sz="975" b="0" i="0" u="none" dirty="0">
              <a:solidFill>
                <a:srgbClr val="64748B"/>
              </a:solidFill>
              <a:latin typeface="Open Sans SemiBold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85825" y="1828800"/>
            <a:ext cx="5160645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1E3A8A"/>
                </a:solidFill>
                <a:latin typeface="Montserrat"/>
              </a:rPr>
              <a:t>Proposed 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275" y="2133600"/>
            <a:ext cx="5124450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 dirty="0">
                <a:solidFill>
                  <a:srgbClr val="334155"/>
                </a:solidFill>
                <a:latin typeface="Open Sans"/>
              </a:rPr>
              <a:t>An automated rules-engine application that scans packaged commodity photos, extracts mandatory declarations via robust OCR, and validates them instantaneously against a digitized, version-controlled Legal Metrology rulebook.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86550" y="1828800"/>
            <a:ext cx="5070633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1E3A8A"/>
                </a:solidFill>
                <a:latin typeface="Montserrat"/>
              </a:rPr>
              <a:t>Detailed Explanation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925" y="4382262"/>
            <a:ext cx="5120640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 dirty="0">
                <a:solidFill>
                  <a:srgbClr val="1E3A8A"/>
                </a:solidFill>
                <a:latin typeface="Montserrat"/>
              </a:rPr>
              <a:t>How It Addresses the Problem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38925" y="4345686"/>
            <a:ext cx="5120640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1E3A8A"/>
                </a:solidFill>
                <a:latin typeface="Montserrat"/>
              </a:rPr>
              <a:t>Innovation &amp; Uniqueness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275" y="1847850"/>
            <a:ext cx="133350" cy="1714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91275" y="1847850"/>
            <a:ext cx="219075" cy="1714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581775" y="2133600"/>
            <a:ext cx="49339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1" i="0" u="none">
                <a:solidFill>
                  <a:srgbClr val="334155"/>
                </a:solidFill>
                <a:latin typeface="Open Sans"/>
              </a:rPr>
              <a:t>Upload &amp; Scan:</a:t>
            </a:r>
            <a:r>
              <a:rPr sz="1125" b="0" i="0" u="none">
                <a:solidFill>
                  <a:srgbClr val="334155"/>
                </a:solidFill>
                <a:latin typeface="Open Sans"/>
              </a:rPr>
              <a:t> Captures high-res images and extracts textual and spatial data using advanced OCR.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1775" y="2609850"/>
            <a:ext cx="49339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1" i="0" u="none">
                <a:solidFill>
                  <a:srgbClr val="334155"/>
                </a:solidFill>
                <a:latin typeface="Open Sans"/>
              </a:rPr>
              <a:t>Entity Extraction:</a:t>
            </a:r>
            <a:r>
              <a:rPr sz="1125" b="0" i="0" u="none">
                <a:solidFill>
                  <a:srgbClr val="334155"/>
                </a:solidFill>
                <a:latin typeface="Open Sans"/>
              </a:rPr>
              <a:t> Classifies extracted text into mandatory fields (MRP, Net Weight, Date, Mfr Details) via NLP.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1775" y="3086100"/>
            <a:ext cx="49339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1" i="0" u="none" dirty="0">
                <a:solidFill>
                  <a:srgbClr val="334155"/>
                </a:solidFill>
                <a:latin typeface="Open Sans"/>
              </a:rPr>
              <a:t>Rules Validation:</a:t>
            </a:r>
            <a:r>
              <a:rPr sz="1125" b="0" i="0" u="none" dirty="0">
                <a:solidFill>
                  <a:srgbClr val="334155"/>
                </a:solidFill>
                <a:latin typeface="Open Sans"/>
              </a:rPr>
              <a:t> Cross-references extracted fields against digitized rules (e.g., minimum font size based on PDP area).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1775" y="3562350"/>
            <a:ext cx="49339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1" i="0" u="none">
                <a:solidFill>
                  <a:srgbClr val="334155"/>
                </a:solidFill>
                <a:latin typeface="Open Sans"/>
              </a:rPr>
              <a:t>Report Gen:</a:t>
            </a:r>
            <a:r>
              <a:rPr sz="1125" b="0" i="0" u="none">
                <a:solidFill>
                  <a:srgbClr val="334155"/>
                </a:solidFill>
                <a:latin typeface="Open Sans"/>
              </a:rPr>
              <a:t> Flags missing or non-compliant declarations in a verifiable PDF report.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6275" y="4419599"/>
            <a:ext cx="171450" cy="17145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66775" y="4687062"/>
            <a:ext cx="49339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334155"/>
                </a:solidFill>
                <a:latin typeface="Open Sans"/>
              </a:rPr>
              <a:t>Replaces notoriously slow and inconsistent manual QA processes with instantaneous, deterministic automated checks.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6775" y="5163312"/>
            <a:ext cx="49339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334155"/>
                </a:solidFill>
                <a:latin typeface="Open Sans"/>
              </a:rPr>
              <a:t>Provides enforcement officials and brand QA teams with a highly scalable, field-ready audit tool.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6775" y="5639562"/>
            <a:ext cx="49339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334155"/>
                </a:solidFill>
                <a:latin typeface="Open Sans"/>
              </a:rPr>
              <a:t>Eliminates reliance on human memory of complex, frequently changing regulations.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91275" y="4364736"/>
            <a:ext cx="171450" cy="17145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581775" y="4650486"/>
            <a:ext cx="49339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1" i="0" u="none">
                <a:solidFill>
                  <a:srgbClr val="334155"/>
                </a:solidFill>
                <a:latin typeface="Open Sans"/>
              </a:rPr>
              <a:t>Versioned Configs:</a:t>
            </a:r>
            <a:r>
              <a:rPr sz="1125" b="0" i="0" u="none">
                <a:solidFill>
                  <a:srgbClr val="334155"/>
                </a:solidFill>
                <a:latin typeface="Open Sans"/>
              </a:rPr>
              <a:t> Rules are stored in editable JSON, allowing instant updates when laws amend without codebase changes.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1775" y="5126736"/>
            <a:ext cx="49339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1" i="0" u="none">
                <a:solidFill>
                  <a:srgbClr val="334155"/>
                </a:solidFill>
                <a:latin typeface="Open Sans"/>
              </a:rPr>
              <a:t>Automated Spatial Validation:</a:t>
            </a:r>
            <a:r>
              <a:rPr sz="1125" b="0" i="0" u="none">
                <a:solidFill>
                  <a:srgbClr val="334155"/>
                </a:solidFill>
                <a:latin typeface="Open Sans"/>
              </a:rPr>
              <a:t> Calculates physical dimensions via reference-object calibration—a check rarely performed manually.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1775" y="5602986"/>
            <a:ext cx="49339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1" i="0" u="none">
                <a:solidFill>
                  <a:srgbClr val="334155"/>
                </a:solidFill>
                <a:latin typeface="Open Sans"/>
              </a:rPr>
              <a:t>Legally Defensible Output:</a:t>
            </a:r>
            <a:r>
              <a:rPr sz="1125" b="0" i="0" u="none">
                <a:solidFill>
                  <a:srgbClr val="334155"/>
                </a:solidFill>
                <a:latin typeface="Open Sans"/>
              </a:rPr>
              <a:t> Explainable engine maps every flagged violation back to the exact legal clause, unlike black-box AI.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91275" y="2152650"/>
            <a:ext cx="76200" cy="142875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91275" y="2628900"/>
            <a:ext cx="76200" cy="142875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91275" y="3105150"/>
            <a:ext cx="76200" cy="142875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91275" y="3581400"/>
            <a:ext cx="76200" cy="142875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6275" y="4706112"/>
            <a:ext cx="76200" cy="142875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6275" y="5182362"/>
            <a:ext cx="76200" cy="142875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6275" y="5658612"/>
            <a:ext cx="76200" cy="142875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91275" y="4669536"/>
            <a:ext cx="76200" cy="142875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91275" y="5136642"/>
            <a:ext cx="76200" cy="142875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91275" y="5622036"/>
            <a:ext cx="76200" cy="142875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D64D07C1-9B44-6A7A-370A-E00BB9F7E94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746285" y="200787"/>
            <a:ext cx="1051916" cy="5429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1960364"/>
            <a:ext cx="11239500" cy="173533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4391025"/>
            <a:ext cx="11239500" cy="146863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6381750"/>
            <a:ext cx="11239500" cy="2857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6250" y="238125"/>
            <a:ext cx="70485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Montserrat ExtraBold"/>
              </a:rPr>
              <a:t>SYNX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6250" y="952500"/>
            <a:ext cx="11715750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1E3A8A"/>
                </a:solidFill>
                <a:latin typeface="Montserrat ExtraBold"/>
              </a:rPr>
              <a:t>TECHNICAL APPROACH</a:t>
            </a:r>
          </a:p>
        </p:txBody>
      </p:sp>
      <p:sp>
        <p:nvSpPr>
          <p:cNvPr id="8" name="Rectangle 7"/>
          <p:cNvSpPr/>
          <p:nvPr/>
        </p:nvSpPr>
        <p:spPr>
          <a:xfrm>
            <a:off x="476250" y="1400175"/>
            <a:ext cx="1123950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237977" y="6496050"/>
            <a:ext cx="477774" cy="150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rgbClr val="64748B"/>
                </a:solidFill>
                <a:latin typeface="Open Sans SemiBold"/>
              </a:rPr>
              <a:t>SYNX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6250" y="3933825"/>
            <a:ext cx="1171575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1E3A8A"/>
                </a:solidFill>
                <a:latin typeface="Montserrat"/>
              </a:rPr>
              <a:t>Methodology &amp; Implementation 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5288" y="2160389"/>
            <a:ext cx="11381422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 i="0" u="none">
                <a:solidFill>
                  <a:srgbClr val="1E3A8A"/>
                </a:solidFill>
                <a:latin typeface="Montserrat"/>
              </a:rPr>
              <a:t>Technologies to be used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4009" y="4591050"/>
            <a:ext cx="571500" cy="5715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27600" y="5257800"/>
            <a:ext cx="2044318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Montserrat"/>
              </a:rPr>
              <a:t>1. Upload Image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275" y="5486400"/>
            <a:ext cx="1946969" cy="173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sz="975" b="0" i="0" u="none">
                <a:solidFill>
                  <a:srgbClr val="334155"/>
                </a:solidFill>
                <a:latin typeface="Open Sans"/>
              </a:rPr>
              <a:t>High-res capture via App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99444" y="4915792"/>
            <a:ext cx="123825" cy="1905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87204" y="4591050"/>
            <a:ext cx="571500" cy="5715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850795" y="5257800"/>
            <a:ext cx="2044318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Montserrat"/>
              </a:rPr>
              <a:t>2. OCR Extraction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99469" y="5486400"/>
            <a:ext cx="1946969" cy="173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sz="975" b="0" i="0" u="none">
                <a:solidFill>
                  <a:srgbClr val="334155"/>
                </a:solidFill>
                <a:latin typeface="Open Sans"/>
              </a:rPr>
              <a:t>Text &amp; Spatial Data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2639" y="4915792"/>
            <a:ext cx="123825" cy="1905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10398" y="4591050"/>
            <a:ext cx="571500" cy="5715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073989" y="5257800"/>
            <a:ext cx="2044318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Montserrat"/>
              </a:rPr>
              <a:t>3. Field Mapping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2664" y="5486400"/>
            <a:ext cx="1946969" cy="173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sz="975" b="0" i="0" u="none">
                <a:solidFill>
                  <a:srgbClr val="334155"/>
                </a:solidFill>
                <a:latin typeface="Open Sans"/>
              </a:rPr>
              <a:t>NLP Entity Classification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45833" y="4915792"/>
            <a:ext cx="123825" cy="1905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33593" y="4591050"/>
            <a:ext cx="571500" cy="5715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297184" y="5257800"/>
            <a:ext cx="2044318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Montserrat"/>
              </a:rPr>
              <a:t>4. Rule Validation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45858" y="5486400"/>
            <a:ext cx="1946969" cy="173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sz="975" b="0" i="0" u="none">
                <a:solidFill>
                  <a:srgbClr val="334155"/>
                </a:solidFill>
                <a:latin typeface="Open Sans"/>
              </a:rPr>
              <a:t>Check vs JSON Rules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69028" y="4915792"/>
            <a:ext cx="123825" cy="1905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56787" y="4591050"/>
            <a:ext cx="571500" cy="5715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520378" y="5257800"/>
            <a:ext cx="2044318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Montserrat"/>
              </a:rPr>
              <a:t>5. Compliance Report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69053" y="5486400"/>
            <a:ext cx="1946969" cy="173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sz="975" b="0" i="0" u="none">
                <a:solidFill>
                  <a:srgbClr val="334155"/>
                </a:solidFill>
                <a:latin typeface="Open Sans"/>
              </a:rPr>
              <a:t>Legally Defensible Output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29025" y="2512814"/>
            <a:ext cx="342900" cy="3429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3386137" y="2931914"/>
            <a:ext cx="828675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sz="1050" b="1" i="0" u="none">
                <a:solidFill>
                  <a:srgbClr val="334155"/>
                </a:solidFill>
                <a:latin typeface="Open Sans"/>
              </a:rPr>
              <a:t>React Native</a:t>
            </a:r>
            <a:r>
              <a:t>
</a:t>
            </a:r>
            <a:r>
              <a:rPr sz="1050" b="0" i="0" u="none">
                <a:solidFill>
                  <a:srgbClr val="334155"/>
                </a:solidFill>
                <a:latin typeface="Open Sans"/>
              </a:rPr>
              <a:t>Frontend App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05375" y="2512814"/>
            <a:ext cx="304800" cy="3429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4500562" y="2931914"/>
            <a:ext cx="1114425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sz="1050" b="1" i="0" u="none">
                <a:solidFill>
                  <a:srgbClr val="334155"/>
                </a:solidFill>
                <a:latin typeface="Open Sans"/>
              </a:rPr>
              <a:t>FastAPI (Python)</a:t>
            </a:r>
            <a:r>
              <a:t>
</a:t>
            </a:r>
            <a:r>
              <a:rPr sz="1050" b="0" i="0" u="none">
                <a:solidFill>
                  <a:srgbClr val="334155"/>
                </a:solidFill>
                <a:latin typeface="Open Sans"/>
              </a:rPr>
              <a:t>Backend Routing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76962" y="2512814"/>
            <a:ext cx="304800" cy="3429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900737" y="2931914"/>
            <a:ext cx="857250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sz="1050" b="1" i="0" u="none">
                <a:solidFill>
                  <a:srgbClr val="334155"/>
                </a:solidFill>
                <a:latin typeface="Open Sans"/>
              </a:rPr>
              <a:t>PaddleOCR</a:t>
            </a:r>
            <a:r>
              <a:t>
</a:t>
            </a:r>
            <a:r>
              <a:rPr sz="1050" b="0" i="0" u="none">
                <a:solidFill>
                  <a:srgbClr val="334155"/>
                </a:solidFill>
                <a:latin typeface="Open Sans"/>
              </a:rPr>
              <a:t>Text Extraction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272337" y="2512814"/>
            <a:ext cx="304800" cy="34290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7043737" y="2931914"/>
            <a:ext cx="762000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sz="1050" b="1" i="0" u="none">
                <a:solidFill>
                  <a:srgbClr val="334155"/>
                </a:solidFill>
                <a:latin typeface="Open Sans"/>
              </a:rPr>
              <a:t>PostgreSQL</a:t>
            </a:r>
            <a:r>
              <a:t>
</a:t>
            </a:r>
            <a:r>
              <a:rPr sz="1050" b="0" i="0" u="none">
                <a:solidFill>
                  <a:srgbClr val="334155"/>
                </a:solidFill>
                <a:latin typeface="Open Sans"/>
              </a:rPr>
              <a:t>Database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20087" y="2512814"/>
            <a:ext cx="257175" cy="34290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091487" y="2931914"/>
            <a:ext cx="714375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sz="1050" b="1" i="0" u="none">
                <a:solidFill>
                  <a:srgbClr val="334155"/>
                </a:solidFill>
                <a:latin typeface="Open Sans"/>
              </a:rPr>
              <a:t>JSON Logic</a:t>
            </a:r>
            <a:r>
              <a:t>
</a:t>
            </a:r>
            <a:r>
              <a:rPr sz="1050" b="0" i="0" u="none">
                <a:solidFill>
                  <a:srgbClr val="334155"/>
                </a:solidFill>
                <a:latin typeface="Open Sans"/>
              </a:rPr>
              <a:t>Rule Engine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535459" y="4762500"/>
            <a:ext cx="228600" cy="228600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758654" y="4762500"/>
            <a:ext cx="228600" cy="228600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967561" y="4762500"/>
            <a:ext cx="257175" cy="228600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176468" y="4762500"/>
            <a:ext cx="285750" cy="228600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428237" y="4762500"/>
            <a:ext cx="228600" cy="228600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5E03A74D-8F1F-6872-B6DA-7F1CAE827174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746285" y="200787"/>
            <a:ext cx="1051916" cy="5429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1628775"/>
            <a:ext cx="3619500" cy="47529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0" y="1628775"/>
            <a:ext cx="3619500" cy="47529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0" y="1628775"/>
            <a:ext cx="3619500" cy="47529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6381750"/>
            <a:ext cx="11239500" cy="2857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6250" y="238125"/>
            <a:ext cx="70485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Montserrat ExtraBold"/>
              </a:rPr>
              <a:t>SYNX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6250" y="952500"/>
            <a:ext cx="11715750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1E3A8A"/>
                </a:solidFill>
                <a:latin typeface="Montserrat ExtraBold"/>
              </a:rPr>
              <a:t>FEASIBILITY AND VIABILITY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476250" y="1400175"/>
            <a:ext cx="1123950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256265" y="6496050"/>
            <a:ext cx="459486" cy="150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rgbClr val="64748B"/>
                </a:solidFill>
                <a:latin typeface="Open Sans SemiBold"/>
              </a:rPr>
              <a:t>SYNX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4875" y="1828800"/>
            <a:ext cx="3140392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1E3A8A"/>
                </a:solidFill>
                <a:latin typeface="Montserrat"/>
              </a:rPr>
              <a:t>Analysis of Feasibility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275" y="2133600"/>
            <a:ext cx="3219450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1" i="0" u="none">
                <a:solidFill>
                  <a:srgbClr val="334155"/>
                </a:solidFill>
                <a:latin typeface="Open Sans"/>
              </a:rPr>
              <a:t>High Technical Feasibility:</a:t>
            </a:r>
            <a:r>
              <a:rPr sz="1125" b="0" i="0" u="none">
                <a:solidFill>
                  <a:srgbClr val="334155"/>
                </a:solidFill>
                <a:latin typeface="Open Sans"/>
              </a:rPr>
              <a:t> The solution utilizes proven, off-the-shelf OCR models (PaddleOCR) combined with standard web technologies.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275" y="3048000"/>
            <a:ext cx="3219450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1" i="0" u="none">
                <a:solidFill>
                  <a:srgbClr val="334155"/>
                </a:solidFill>
                <a:latin typeface="Open Sans"/>
              </a:rPr>
              <a:t>Deterministic Logic:</a:t>
            </a:r>
            <a:r>
              <a:rPr sz="1125" b="0" i="0" u="none">
                <a:solidFill>
                  <a:srgbClr val="334155"/>
                </a:solidFill>
                <a:latin typeface="Open Sans"/>
              </a:rPr>
              <a:t> By using a distinct rule-engine rather than black-box ML for validation, we ensure 100% predictable and reliable outputs.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275" y="3962400"/>
            <a:ext cx="32194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1" i="0" u="none">
                <a:solidFill>
                  <a:srgbClr val="334155"/>
                </a:solidFill>
                <a:latin typeface="Open Sans"/>
              </a:rPr>
              <a:t>Focused MVP:</a:t>
            </a:r>
            <a:r>
              <a:rPr sz="1125" b="0" i="0" u="none">
                <a:solidFill>
                  <a:srgbClr val="334155"/>
                </a:solidFill>
                <a:latin typeface="Open Sans"/>
              </a:rPr>
              <a:t> Initial scope targets front-panel analysis to ensure a robust, deliverable prototype.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33925" y="1828800"/>
            <a:ext cx="3120390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1E3A8A"/>
                </a:solidFill>
                <a:latin typeface="Montserrat"/>
              </a:rPr>
              <a:t>Challenges &amp; Risks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3925" y="1828800"/>
            <a:ext cx="3120390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1E3A8A"/>
                </a:solidFill>
                <a:latin typeface="Montserrat"/>
              </a:rPr>
              <a:t>Mitigation Strategies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275" y="1847850"/>
            <a:ext cx="152400" cy="1714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86275" y="1847850"/>
            <a:ext cx="171450" cy="1714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676775" y="2133600"/>
            <a:ext cx="30289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1" i="0" u="none">
                <a:solidFill>
                  <a:srgbClr val="334155"/>
                </a:solidFill>
                <a:latin typeface="Open Sans"/>
              </a:rPr>
              <a:t>Data Scarcity:</a:t>
            </a:r>
            <a:r>
              <a:rPr sz="1125" b="0" i="0" u="none">
                <a:solidFill>
                  <a:srgbClr val="334155"/>
                </a:solidFill>
                <a:latin typeface="Open Sans"/>
              </a:rPr>
              <a:t> Absence of a public labeled dataset for Indian Packaged Commodities compliance.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76775" y="2809875"/>
            <a:ext cx="30289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1" i="0" u="none">
                <a:solidFill>
                  <a:srgbClr val="334155"/>
                </a:solidFill>
                <a:latin typeface="Open Sans"/>
              </a:rPr>
              <a:t>Physical Variables:</a:t>
            </a:r>
            <a:r>
              <a:rPr sz="1125" b="0" i="0" u="none">
                <a:solidFill>
                  <a:srgbClr val="334155"/>
                </a:solidFill>
                <a:latin typeface="Open Sans"/>
              </a:rPr>
              <a:t> OCR degradation on highly curved or reflective packaging (e.g., cylindrical bottles, metallic wrappers).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76775" y="3486150"/>
            <a:ext cx="30289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1" i="0" u="none">
                <a:solidFill>
                  <a:srgbClr val="334155"/>
                </a:solidFill>
                <a:latin typeface="Open Sans"/>
              </a:rPr>
              <a:t>Dynamic Regulations:</a:t>
            </a:r>
            <a:r>
              <a:rPr sz="1125" b="0" i="0" u="none">
                <a:solidFill>
                  <a:srgbClr val="334155"/>
                </a:solidFill>
                <a:latin typeface="Open Sans"/>
              </a:rPr>
              <a:t> Frequent legal amendments issued via department circulars can render hard-coded logic obsolete quickly.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96275" y="1847850"/>
            <a:ext cx="171450" cy="1714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486775" y="2133600"/>
            <a:ext cx="3028950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1" i="0" u="none">
                <a:solidFill>
                  <a:srgbClr val="334155"/>
                </a:solidFill>
                <a:latin typeface="Open Sans"/>
              </a:rPr>
              <a:t>Data Strategy:</a:t>
            </a:r>
            <a:r>
              <a:rPr sz="1125" b="0" i="0" u="none">
                <a:solidFill>
                  <a:srgbClr val="334155"/>
                </a:solidFill>
                <a:latin typeface="Open Sans"/>
              </a:rPr>
              <a:t> Manually labeling a benchmark set of real products and generating synthetic labels via Python Pillow for extreme edge-case testing.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86775" y="3009900"/>
            <a:ext cx="30289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1" i="0" u="none">
                <a:solidFill>
                  <a:srgbClr val="334155"/>
                </a:solidFill>
                <a:latin typeface="Open Sans"/>
              </a:rPr>
              <a:t>UI/UX Constraints:</a:t>
            </a:r>
            <a:r>
              <a:rPr sz="1125" b="0" i="0" u="none">
                <a:solidFill>
                  <a:srgbClr val="334155"/>
                </a:solidFill>
                <a:latin typeface="Open Sans"/>
              </a:rPr>
              <a:t> In-app camera overlays will guide users to capture flat, appropriately lit, and leveled photos.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86775" y="3686175"/>
            <a:ext cx="30289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1" i="0" u="none">
                <a:solidFill>
                  <a:srgbClr val="334155"/>
                </a:solidFill>
                <a:latin typeface="Open Sans"/>
              </a:rPr>
              <a:t>Architecture:</a:t>
            </a:r>
            <a:r>
              <a:rPr sz="1125" b="0" i="0" u="none">
                <a:solidFill>
                  <a:srgbClr val="334155"/>
                </a:solidFill>
                <a:latin typeface="Open Sans"/>
              </a:rPr>
              <a:t> Decoupling the rules logic into versioned JSON configurations ensures the system adapts instantly to new laws.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86275" y="2152650"/>
            <a:ext cx="76200" cy="142875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86275" y="2828925"/>
            <a:ext cx="76200" cy="142875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86275" y="3505200"/>
            <a:ext cx="76200" cy="142875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96275" y="2152650"/>
            <a:ext cx="76200" cy="142875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96275" y="3028950"/>
            <a:ext cx="76200" cy="142875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96275" y="3705225"/>
            <a:ext cx="76200" cy="14287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12674091-0D92-C11E-633E-3BACFA08277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746285" y="200787"/>
            <a:ext cx="1051916" cy="5429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1628775"/>
            <a:ext cx="10944606" cy="2133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3952875"/>
            <a:ext cx="11039475" cy="2133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6381750"/>
            <a:ext cx="11239500" cy="2857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6250" y="238125"/>
            <a:ext cx="70485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Montserrat ExtraBold"/>
              </a:rPr>
              <a:t>SYNX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6250" y="952500"/>
            <a:ext cx="11715750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1E3A8A"/>
                </a:solidFill>
                <a:latin typeface="Montserrat ExtraBold"/>
              </a:rPr>
              <a:t>IMPACT AND BENEFITS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76250" y="1400175"/>
            <a:ext cx="1123950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274553" y="6496050"/>
            <a:ext cx="441198" cy="150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rgbClr val="64748B"/>
                </a:solidFill>
                <a:latin typeface="Open Sans SemiBold"/>
              </a:rPr>
              <a:t>SYNX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1550" y="1828800"/>
            <a:ext cx="5020627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1E3A8A"/>
                </a:solidFill>
                <a:latin typeface="Montserrat"/>
              </a:rPr>
              <a:t>Target Audience Impact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925" y="4152900"/>
            <a:ext cx="5070633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1E3A8A"/>
                </a:solidFill>
                <a:latin typeface="Montserrat"/>
              </a:rPr>
              <a:t>Broad Benefits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275" y="1847850"/>
            <a:ext cx="219075" cy="1714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66775" y="2133600"/>
            <a:ext cx="10067925" cy="1911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1" i="0" u="none" dirty="0">
                <a:solidFill>
                  <a:srgbClr val="334155"/>
                </a:solidFill>
                <a:latin typeface="Open Sans"/>
              </a:rPr>
              <a:t>Enforcement Officials:</a:t>
            </a:r>
            <a:r>
              <a:rPr sz="1125" b="0" i="0" u="none" dirty="0">
                <a:solidFill>
                  <a:srgbClr val="334155"/>
                </a:solidFill>
                <a:latin typeface="Open Sans"/>
              </a:rPr>
              <a:t> Equips officers with a highly scalable tool to conduct 10x more field inspections with pinpoint accuracy.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775" y="2609850"/>
            <a:ext cx="10279761" cy="1911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1" i="0" u="none" dirty="0">
                <a:solidFill>
                  <a:srgbClr val="334155"/>
                </a:solidFill>
                <a:latin typeface="Open Sans"/>
              </a:rPr>
              <a:t>Brand Compliance Teams:</a:t>
            </a:r>
            <a:r>
              <a:rPr sz="1125" b="0" i="0" u="none" dirty="0">
                <a:solidFill>
                  <a:srgbClr val="334155"/>
                </a:solidFill>
                <a:latin typeface="Open Sans"/>
              </a:rPr>
              <a:t> Enables automated pre-shipping QA checks, preventing disastrous regulatory recalls and penalties.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6775" y="3086100"/>
            <a:ext cx="10279761" cy="1911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1" i="0" u="none" dirty="0">
                <a:solidFill>
                  <a:srgbClr val="334155"/>
                </a:solidFill>
                <a:latin typeface="Open Sans"/>
              </a:rPr>
              <a:t>E-commerce Platforms:</a:t>
            </a:r>
            <a:r>
              <a:rPr sz="1125" b="0" i="0" u="none" dirty="0">
                <a:solidFill>
                  <a:srgbClr val="334155"/>
                </a:solidFill>
                <a:latin typeface="Open Sans"/>
              </a:rPr>
              <a:t> Facilitates rapid pre-listing validation of product catalogs to mitigate third-party liability risks.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275" y="4171950"/>
            <a:ext cx="171450" cy="1714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66775" y="4457700"/>
            <a:ext cx="10067925" cy="1911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1" i="0" u="none" dirty="0">
                <a:solidFill>
                  <a:srgbClr val="334155"/>
                </a:solidFill>
                <a:latin typeface="Open Sans"/>
              </a:rPr>
              <a:t>Unprecedented Speed:</a:t>
            </a:r>
            <a:r>
              <a:rPr sz="1125" b="0" i="0" u="none" dirty="0">
                <a:solidFill>
                  <a:srgbClr val="334155"/>
                </a:solidFill>
                <a:latin typeface="Open Sans"/>
              </a:rPr>
              <a:t> Reduces inspection time per product from minutes/hours to mere seconds.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6775" y="4933950"/>
            <a:ext cx="10067925" cy="1911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1" i="0" u="none">
                <a:solidFill>
                  <a:srgbClr val="334155"/>
                </a:solidFill>
                <a:latin typeface="Open Sans"/>
              </a:rPr>
              <a:t>Economic Efficiency:</a:t>
            </a:r>
            <a:r>
              <a:rPr sz="1125" b="0" i="0" u="none">
                <a:solidFill>
                  <a:srgbClr val="334155"/>
                </a:solidFill>
                <a:latin typeface="Open Sans"/>
              </a:rPr>
              <a:t> Drastically lowers regulatory friction for honest businesses while scaling enforcement capabilities.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6775" y="5410200"/>
            <a:ext cx="10067925" cy="1911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1" i="0" u="none">
                <a:solidFill>
                  <a:srgbClr val="334155"/>
                </a:solidFill>
                <a:latin typeface="Open Sans"/>
              </a:rPr>
              <a:t>Environmental Gain:</a:t>
            </a:r>
            <a:r>
              <a:rPr sz="1125" b="0" i="0" u="none">
                <a:solidFill>
                  <a:srgbClr val="334155"/>
                </a:solidFill>
                <a:latin typeface="Open Sans"/>
              </a:rPr>
              <a:t> Prevents physical waste generated from recalling and destroying mislabeled packaging batches.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275" y="2152650"/>
            <a:ext cx="76200" cy="14287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275" y="2628900"/>
            <a:ext cx="76200" cy="14287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275" y="3105150"/>
            <a:ext cx="76200" cy="14287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275" y="4476750"/>
            <a:ext cx="76200" cy="142875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275" y="4953000"/>
            <a:ext cx="76200" cy="142875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275" y="5429250"/>
            <a:ext cx="76200" cy="142875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86857942-85AF-C25D-F234-143636EB4FB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46285" y="200787"/>
            <a:ext cx="1051916" cy="5429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1628775"/>
            <a:ext cx="11239500" cy="47529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6381750"/>
            <a:ext cx="11239500" cy="2857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6250" y="238125"/>
            <a:ext cx="70485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Montserrat ExtraBold"/>
              </a:rPr>
              <a:t>SYNX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250" y="952500"/>
            <a:ext cx="11715750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1E3A8A"/>
                </a:solidFill>
                <a:latin typeface="Montserrat ExtraBold"/>
              </a:rPr>
              <a:t>RESEARCH AND REFERENCES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76250" y="1400175"/>
            <a:ext cx="1123950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292841" y="6496050"/>
            <a:ext cx="42291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rgbClr val="64748B"/>
                </a:solidFill>
                <a:latin typeface="Open Sans SemiBold"/>
              </a:rPr>
              <a:t>SYNX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2975" y="1828800"/>
            <a:ext cx="11101387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1E3A8A"/>
                </a:solidFill>
                <a:latin typeface="Montserrat"/>
              </a:rPr>
              <a:t>Key Documentation &amp; Datasets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275" y="1847850"/>
            <a:ext cx="190500" cy="1714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66775" y="2276475"/>
            <a:ext cx="106489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1" i="0" u="none">
                <a:solidFill>
                  <a:srgbClr val="334155"/>
                </a:solidFill>
                <a:latin typeface="Open Sans"/>
              </a:rPr>
              <a:t>The Legal Metrology Act, 2009 &amp; Packaged Commodities Rules, 2011:</a:t>
            </a:r>
            <a:r>
              <a:t>
</a:t>
            </a:r>
            <a:r>
              <a:rPr sz="1125" b="0" i="0" u="none">
                <a:solidFill>
                  <a:srgbClr val="64748B"/>
                </a:solidFill>
                <a:latin typeface="Open Sans"/>
              </a:rPr>
              <a:t>Primary legal framework governing mandatory declarations, PDP area calculations, and font-size requirements (Rule 7).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6775" y="2943225"/>
            <a:ext cx="106489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1" i="0" u="none">
                <a:solidFill>
                  <a:srgbClr val="334155"/>
                </a:solidFill>
                <a:latin typeface="Open Sans"/>
              </a:rPr>
              <a:t>Department of Consumer Affairs (DoCA) Official Resources:</a:t>
            </a:r>
            <a:r>
              <a:t>
</a:t>
            </a:r>
            <a:r>
              <a:rPr sz="1125" b="0" i="0" u="none">
                <a:solidFill>
                  <a:srgbClr val="F97316"/>
                </a:solidFill>
                <a:latin typeface="Open Sans"/>
              </a:rPr>
              <a:t>https://consumeraffairs.gov.in/pages/legal-metrology-act</a:t>
            </a:r>
            <a:r>
              <a:t>
</a:t>
            </a:r>
            <a:r>
              <a:rPr sz="1125" b="0" i="0" u="none">
                <a:solidFill>
                  <a:srgbClr val="64748B"/>
                </a:solidFill>
                <a:latin typeface="Open Sans"/>
              </a:rPr>
              <a:t>Utilized for official clarifications, recent amendments, and FAQs regarding compliance standards.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775" y="3810000"/>
            <a:ext cx="106489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1" i="0" u="none">
                <a:solidFill>
                  <a:srgbClr val="334155"/>
                </a:solidFill>
                <a:latin typeface="Open Sans"/>
              </a:rPr>
              <a:t>PaddleOCR Architecture &amp; Documentation:</a:t>
            </a:r>
            <a:r>
              <a:t>
</a:t>
            </a:r>
            <a:r>
              <a:rPr sz="1125" b="0" i="0" u="none">
                <a:solidFill>
                  <a:srgbClr val="64748B"/>
                </a:solidFill>
                <a:latin typeface="Open Sans"/>
              </a:rPr>
              <a:t>Research on spatial text detection capabilities for accurately extracting bounding box coordinates required for physical dimension validation.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6775" y="4476750"/>
            <a:ext cx="106489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1" i="0" u="none">
                <a:solidFill>
                  <a:srgbClr val="334155"/>
                </a:solidFill>
                <a:latin typeface="Open Sans"/>
              </a:rPr>
              <a:t>Prior Art &amp; Market Analysis:</a:t>
            </a:r>
            <a:r>
              <a:t>
</a:t>
            </a:r>
            <a:r>
              <a:rPr sz="1125" b="0" i="0" u="none">
                <a:solidFill>
                  <a:srgbClr val="64748B"/>
                </a:solidFill>
                <a:latin typeface="Open Sans"/>
              </a:rPr>
              <a:t>Evaluated existing manual QA processes in FMCG sectors to identify latency bottlenecks and design the automated JSON rules-engine architecture.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275" y="2295525"/>
            <a:ext cx="76200" cy="1428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275" y="2962275"/>
            <a:ext cx="76200" cy="1428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275" y="3829050"/>
            <a:ext cx="76200" cy="1428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275" y="4495800"/>
            <a:ext cx="76200" cy="14287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F3C623B-6629-C7A2-EFC1-EED12BC227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46285" y="200787"/>
            <a:ext cx="1051916" cy="5429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778</Words>
  <Application>Microsoft Office PowerPoint</Application>
  <PresentationFormat>Widescreen</PresentationFormat>
  <Paragraphs>84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Arial</vt:lpstr>
      <vt:lpstr>Calibri</vt:lpstr>
      <vt:lpstr>Montserrat</vt:lpstr>
      <vt:lpstr>Montserrat ExtraBold</vt:lpstr>
      <vt:lpstr>Open Sans</vt:lpstr>
      <vt:lpstr>Open Sans ExtraBold</vt:lpstr>
      <vt:lpstr>Open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Jayant verma</cp:lastModifiedBy>
  <cp:revision>2</cp:revision>
  <dcterms:created xsi:type="dcterms:W3CDTF">2013-01-27T09:14:16Z</dcterms:created>
  <dcterms:modified xsi:type="dcterms:W3CDTF">2026-09-03T16:42:02Z</dcterms:modified>
  <cp:category/>
</cp:coreProperties>
</file>