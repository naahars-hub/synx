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4063305"/>
            <a:ext cx="3543300" cy="12647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5563" y="1529953"/>
            <a:ext cx="6980872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oppins"/>
              </a:rPr>
              <a:t>Legal Metrology</a:t>
            </a:r>
            <a:r>
              <a:t>
</a:t>
            </a:r>
            <a:r>
              <a:rPr b="1" sz="4800" i="0" u="none">
                <a:solidFill>
                  <a:srgbClr val="0EA5E9"/>
                </a:solidFill>
                <a:latin typeface="Poppins"/>
              </a:rPr>
              <a:t>Compliance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1775" y="3061394"/>
            <a:ext cx="66484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Automated rule-engine for packaged-commodity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4350" y="4358580"/>
            <a:ext cx="35433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1" sz="1200" i="0" u="none">
                <a:solidFill>
                  <a:srgbClr val="94A3B8"/>
                </a:solidFill>
                <a:latin typeface="Inter"/>
              </a:rPr>
              <a:t>Team Name: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[Insert Unique Team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4350" y="4649985"/>
            <a:ext cx="35433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1" sz="1200" i="0" u="none">
                <a:solidFill>
                  <a:srgbClr val="94A3B8"/>
                </a:solidFill>
                <a:latin typeface="Inter"/>
              </a:rPr>
              <a:t>Problem Statement ID: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[Insert ID / Title]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4350" y="5036641"/>
            <a:ext cx="35433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 Medium"/>
              </a:rPr>
              <a:t>SIH 2026 | Bennett University Internal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9550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094547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95500"/>
            <a:ext cx="5095875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Violates the strict guidelines of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Packaged Commodities Rules, 2011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2643127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44080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Directly compromises basic consumer protection rights.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917418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918370"/>
            <a:ext cx="5095875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Current manual QA processes are notoriously slow and inconsistent.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3465998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466951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Enforcement officials lack scalable, field-ready audit tools.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105025"/>
            <a:ext cx="5267325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What is Legal Metrology non-compliance?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4691"/>
            <a:ext cx="3492549" cy="27411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34691"/>
            <a:ext cx="3492549" cy="27411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34691"/>
            <a:ext cx="3492549" cy="27411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439566"/>
            <a:ext cx="271033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Enforcement Officials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15816"/>
            <a:ext cx="290199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Need highly scalable, reliable field-inspection tools to verify regulations on site.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439566"/>
            <a:ext cx="30470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Brand Compliance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4249191"/>
            <a:ext cx="290199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Require automated pre-shipping QA checks to prevent costly recalls or legal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439566"/>
            <a:ext cx="250031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E-commerce Sellers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915816"/>
            <a:ext cx="2901999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Demand rapid pre-listing validation to ensure online catalog compliance.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68066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868066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868066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Who faces this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2743200"/>
            <a:ext cx="819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No Labeled Dataset: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Only raw legal text exists. Traditional supervised ML cannot be trained.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255615"/>
            <a:ext cx="819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Scale Limitations: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Manual audits simply cannot scale with e-commerce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768030"/>
            <a:ext cx="81915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Dynamic Legalities: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Rules amend frequently via informal FAQs and departmental circulars.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280445"/>
            <a:ext cx="8191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Conclusion: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This requires a flexible rules-encoding architecture, not rigid checklists or black-box ML.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2725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6514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77555"/>
            <a:ext cx="1714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89970"/>
            <a:ext cx="2000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Existing Gap: The Need for Rules-Encoding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07518"/>
            <a:ext cx="5286375" cy="133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Our Solution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333500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F8FAFC"/>
                </a:solidFill>
                <a:latin typeface="Inter"/>
              </a:rPr>
              <a:t>An app that scans a package photo, extracts the mandatory declarations via OCR, and checks them against a versioned digital rulebook, flagging violations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98414"/>
            <a:ext cx="5381625" cy="21639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598414"/>
            <a:ext cx="5381625" cy="2163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48125"/>
            <a:ext cx="5381625" cy="21639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048125"/>
            <a:ext cx="5381625" cy="2163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2503289"/>
            <a:ext cx="229028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Versioned Configs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979539"/>
            <a:ext cx="4791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Rules stored as editable JSON/YAML config, handling future amendments without codebase redeployment.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503289"/>
            <a:ext cx="211026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Font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979539"/>
            <a:ext cx="4791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Automates Rule 7 (minimum font-size-in-mm) via reference-object/dimension calibration—a rule rarely checked manually.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953000"/>
            <a:ext cx="234029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Explainable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5429250"/>
            <a:ext cx="4791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Deterministic, explainable rule engine. Every single violation traces back to a specific legal clause.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4953000"/>
            <a:ext cx="225028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Legally Defensible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5429250"/>
            <a:ext cx="4791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Not a black-box machine learning verdict. Our rule-engine outputs verifiable, legally defensible logic.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931789"/>
            <a:ext cx="25717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1931789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381500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4381500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Innovation: What Makes It Different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9550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95500"/>
            <a:ext cx="55506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EA5E9"/>
                </a:solidFill>
                <a:latin typeface="Inter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14600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Image Preprocessing ➔ OCR (Cloud API/PaddleOCR) ➔ Entity Extraction (regex/keyword classification for 6 core declarations) ➔ Rule Engine ➔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623220"/>
            <a:ext cx="555069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EA5E9"/>
                </a:solidFill>
                <a:latin typeface="Inter"/>
              </a:rPr>
              <a:t>Deliberate MVP Choices: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99374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94695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Front-panel-only photo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426803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268985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Manual reference-object size calibration.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4542323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543276"/>
            <a:ext cx="5095875" cy="27429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Off-the-shelf reliable OCR integration.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105025"/>
            <a:ext cx="5267325" cy="3600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Technical Approach &amp; MVP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1092"/>
            <a:ext cx="3492549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601092"/>
            <a:ext cx="3492549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601092"/>
            <a:ext cx="3492549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438054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Prototype &amp; Workflow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425" y="752475"/>
            <a:ext cx="2124075" cy="369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92092"/>
            <a:ext cx="3492549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1. Upload &amp;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799" y="5792092"/>
            <a:ext cx="3492549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2. Results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99" y="5792092"/>
            <a:ext cx="3492549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Medium"/>
              </a:rPr>
              <a:t>3. Download Report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1610617"/>
            <a:ext cx="3473499" cy="398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3037" y="1610617"/>
            <a:ext cx="16859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7512" y="1610617"/>
            <a:ext cx="19335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-418951"/>
            <a:ext cx="11049000" cy="17296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10729"/>
            <a:ext cx="11049000" cy="1729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40409"/>
            <a:ext cx="11049000" cy="17296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70090"/>
            <a:ext cx="11049000" cy="17296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99770"/>
            <a:ext cx="11049000" cy="1729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30929" y="390673"/>
            <a:ext cx="113014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Poppin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5975" y="866923"/>
            <a:ext cx="4000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0931" y="2120354"/>
            <a:ext cx="109013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Poppin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5450" y="2596604"/>
            <a:ext cx="11811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FastAPI /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5920" y="3850034"/>
            <a:ext cx="128016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Poppins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5425" y="4326284"/>
            <a:ext cx="15811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OCR API / PaddleOCR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5923" y="5579715"/>
            <a:ext cx="122015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Poppin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72137" y="6055965"/>
            <a:ext cx="8477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5958" y="7309395"/>
            <a:ext cx="660082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Poppins"/>
              </a:rPr>
              <a:t>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8300" y="7785645"/>
            <a:ext cx="129540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JSON Rule Engine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-180826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9312" y="1548854"/>
            <a:ext cx="333375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9312" y="3278534"/>
            <a:ext cx="333375" cy="381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9312" y="5008215"/>
            <a:ext cx="333375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9312" y="6737895"/>
            <a:ext cx="333375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-1371451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Technology Stack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4600"/>
            <a:ext cx="5286375" cy="27811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514600"/>
            <a:ext cx="5286375" cy="27811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905125"/>
            <a:ext cx="473059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Establishing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81375"/>
            <a:ext cx="45053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No public compliance dataset exists for Indian Legal Metrology. Instead of relying on unreliable scraping, we engineered a deliberate methodology to establish exact ground truth for pipeline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905125"/>
            <a:ext cx="473059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oppins"/>
              </a:rPr>
              <a:t>Our Data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380422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5150" y="3381375"/>
            <a:ext cx="4314825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Manual Set: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15–20 photographed, hand-labeled real products serving as real-world benchmarks.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3929002"/>
            <a:ext cx="952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3929955"/>
            <a:ext cx="4314825" cy="82287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Synthetic Labels: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Pillow-generated labels with known-missing/malformed fields to ensure our rule engine catches specific edge cases perfectly.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Validation &amp; Data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81550"/>
            <a:ext cx="11049000" cy="7124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24000"/>
            <a:ext cx="11049000" cy="476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93750" y="5076825"/>
            <a:ext cx="1790700" cy="27429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Faster inspections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14701" y="5076825"/>
            <a:ext cx="2228850" cy="27429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Fewer brand QA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3801" y="5076825"/>
            <a:ext cx="2724150" cy="27429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Scalable consumer protection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750" y="5124450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4701" y="5124450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801" y="5124450"/>
            <a:ext cx="1524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Delivering Real-World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968" y="4191000"/>
            <a:ext cx="26683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EA5E9"/>
                </a:solidFill>
                <a:latin typeface="Poppins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19625"/>
            <a:ext cx="25412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Principal Display Panel (PDP) auto-detection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647950"/>
            <a:ext cx="26683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EA5E9"/>
                </a:solidFill>
                <a:latin typeface="Poppins"/>
              </a:rP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3076575"/>
            <a:ext cx="25412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NER / ML-based field classification beyond regex.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191000"/>
            <a:ext cx="26683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EA5E9"/>
                </a:solidFill>
                <a:latin typeface="Poppins"/>
              </a:rPr>
              <a:t>Localization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619625"/>
            <a:ext cx="25412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YOLO-based region localization &amp; full multilingual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647950"/>
            <a:ext cx="26683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EA5E9"/>
                </a:solidFill>
                <a:latin typeface="Poppins"/>
              </a:rP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3076575"/>
            <a:ext cx="254124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CBD5E1"/>
                </a:solidFill>
                <a:latin typeface="Inter"/>
              </a:rPr>
              <a:t>Offline / edge device deployment for remote field inspectors.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0B1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3740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0B1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99659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0B1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35579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38100">
            <a:solidFill>
              <a:srgbClr val="0B1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Future Scope: What We'd Build Next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941314"/>
            <a:ext cx="11049000" cy="3927723"/>
          </a:xfrm>
          <a:prstGeom prst="roundRect">
            <a:avLst>
              <a:gd name="adj" fmla="val 0"/>
            </a:avLst>
          </a:prstGeom>
          <a:solidFill>
            <a:srgbClr val="151F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941314"/>
          <a:ext cx="11048998" cy="3927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98587"/>
                <a:gridCol w="2932211"/>
                <a:gridCol w="6318200"/>
              </a:tblGrid>
              <a:tr h="561103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EA5E9"/>
                          </a:solidFill>
                          <a:latin typeface="Poppins SemiBold"/>
                        </a:rPr>
                        <a:t>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EA5E9"/>
                          </a:solidFill>
                          <a:latin typeface="Poppins SemiBold"/>
                        </a:rPr>
                        <a:t>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EA5E9"/>
                          </a:solidFill>
                          <a:latin typeface="Poppins SemiBold"/>
                        </a:rPr>
                        <a:t>Primary Contribution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56110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[Name 1]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Lead Developer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Pipeline architecture &amp; FastAPI setup.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10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[Name 2]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AI/ML Specialist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OCR integration &amp; Entity Extraction.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10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[Name 3]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Rule Engineer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JSON Rule-engine logic &amp; compliance mapping.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10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[Name 4]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Frontend /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React dashboard &amp; result visualization.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10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[Name 5]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Data / QA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Synthetic label generation &amp; ground-truth testing.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1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[Name 6]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Presenter / 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Pitch narrative, demo prep &amp; report generation.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515641"/>
            <a:ext cx="17985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0087" y="2515641"/>
            <a:ext cx="29322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2299" y="2515641"/>
            <a:ext cx="631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073747"/>
            <a:ext cx="17985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0087" y="3073747"/>
            <a:ext cx="29322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2299" y="3073747"/>
            <a:ext cx="631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631852"/>
            <a:ext cx="17985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0087" y="3631852"/>
            <a:ext cx="29322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2299" y="3631852"/>
            <a:ext cx="631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189958"/>
            <a:ext cx="17985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0087" y="4189958"/>
            <a:ext cx="29322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2299" y="4189958"/>
            <a:ext cx="631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748063"/>
            <a:ext cx="17985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0087" y="4748063"/>
            <a:ext cx="29322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2299" y="4748063"/>
            <a:ext cx="631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306169"/>
            <a:ext cx="179858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70087" y="5306169"/>
            <a:ext cx="293221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2299" y="5306169"/>
            <a:ext cx="6318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Team: [Your Team Name]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7" y="3620541"/>
            <a:ext cx="5191125" cy="1820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416546"/>
            <a:ext cx="11601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EA5E9"/>
                </a:solidFill>
                <a:latin typeface="Poppin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35746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Ready to automate compliance checking.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437" y="3915816"/>
            <a:ext cx="5191125" cy="365670"/>
          </a:xfrm>
          <a:prstGeom prst="rect">
            <a:avLst/>
          </a:prstGeom>
          <a:noFill/>
        </p:spPr>
        <p:txBody>
          <a:bodyPr wrap="square" lIns="32385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[Email / Phone]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437" y="4424362"/>
            <a:ext cx="5191125" cy="365670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 [GitHub Link Placeholder]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437" y="4932908"/>
            <a:ext cx="5191125" cy="365670"/>
          </a:xfrm>
          <a:prstGeom prst="rect">
            <a:avLst/>
          </a:prstGeom>
          <a:noFill/>
        </p:spPr>
        <p:txBody>
          <a:bodyPr wrap="square" lIns="352425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 [YouTube Demo Link - Required for Phase 1]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587" y="3972966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850" y="4481512"/>
            <a:ext cx="2190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37" y="4990058"/>
            <a:ext cx="2571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456729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241500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24361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0913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79390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231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231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1483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21483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9996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9996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7843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843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5691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5691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6153"/>
            <a:ext cx="1628775" cy="5485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599604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https://tynerpondfarm.com/cdn/shop/articles/Nutrition-Facts-Label.jpg?v=1743188269&amp;width=1100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84531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tynerpondfarm.com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90043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384375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https://img.magnific.com/premium-photo/concept-software-architecture-microservices-glowing-digital-flowchart-with-connected-nodes-blurred-programming-code-background_372999-53326.jpg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82818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73784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367236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https://nextaipress.com/wp-content/uploads/2026/07/ai-career-pathways-glowing-nodes-diagram-1024x652.png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61295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nextaipress.com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5855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15200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https://images.ui8.net/uploads/details-image-1_1768216769240.png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39772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ui8.net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4332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93677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https://www.netdata.cloud/blog/images/custom-dashboards-1.png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18249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www.netdata.cloud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728096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72154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https://template.canva.com/EAG1AaspnFE/1/0/1131w-YBAdmDFqWIc.jpg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96726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www.canva.com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504229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EA5E9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